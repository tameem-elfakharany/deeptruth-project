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B4D8"/>
                </a:solidFill>
              </a:rPr>
              <a:t>DeepTruth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AI-Powered Deepfake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E0EF"/>
                </a:solidFill>
              </a:rPr>
              <a:t>Multi-Modal Detection  |  Image · Video ·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5"/>
                </a:solidFill>
              </a:rPr>
              <a:t>Tameem El Fakharany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🎯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344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Deepfake media (images, video, audio) is increasingly difficult to detect with the human eye, posing serious risks to trust and security.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84832"/>
            <a:ext cx="11430000" cy="7772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305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💡 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3055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DeepTruth is a full-stack web application that uses state-of-the-art AI models to detect deepfakes across image, video, and audio modalities.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80944"/>
            <a:ext cx="11430000" cy="7772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266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🏗️ 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26664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5-stream hybrid neural network (CLIP + EfficientNet-B4 + Frequency + SRM + GramStyle) with cross-attention fusion for image detection.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77056"/>
            <a:ext cx="11430000" cy="7772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22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📊 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2277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98.0% average accuracy on image detection (Real: 98.7%, Fake: 97.2%). Audio model trained on ASVspoof, WaveFake, MLAAD datasets.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73168"/>
            <a:ext cx="11430000" cy="7772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18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🚀 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1888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Core detection pipeline complete. Backend (FastAPI) + Frontend (Next.js) fully operational. Ongoing: improving real-photo false positive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</a:rPr>
              <a:t>Full-Stack Web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103120" cy="438912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031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Next.js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Image / Video / Audio
upload interface
Real-time results
Heatmap visualization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1280160"/>
            <a:ext cx="2103120" cy="438912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39" y="1280160"/>
            <a:ext cx="2103120" cy="50292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59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59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REST API endpoints
Model inference
Face detection
JWT authentication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1280160"/>
            <a:ext cx="2103120" cy="438912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59" y="1280160"/>
            <a:ext cx="2103120" cy="502920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79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Image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66"/>
                </a:solidFill>
              </a:rPr>
              <a:t>DeepTruthHybridV2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5-stream PyTorch
model, 98% accuracy
Face crop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79" y="1280160"/>
            <a:ext cx="2103120" cy="438912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79" y="1280160"/>
            <a:ext cx="2103120" cy="5029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9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Video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9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LipNet (TF)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Frame-based analysis
Temporal transformer
ONNX export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280160"/>
            <a:ext cx="2103120" cy="438912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1280160"/>
            <a:ext cx="2103120" cy="502920"/>
          </a:xfrm>
          <a:prstGeom prst="rect">
            <a:avLst/>
          </a:prstGeom>
          <a:solidFill>
            <a:srgbClr val="FF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2984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Audio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06A"/>
                </a:solidFill>
              </a:rPr>
              <a:t>Wav2Vec2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103120"/>
            <a:ext cx="1920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Speech deepfake
detection
16kHz waveform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Model 1: DeepTruthHybridV2 — Image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371600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533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Stream 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91640" y="1188720"/>
            <a:ext cx="2560320" cy="65836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CLIP ViT-B/16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36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Semantic understanding
of image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512-d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65960"/>
            <a:ext cx="1371600" cy="658368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1305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Stream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1965960"/>
            <a:ext cx="2560320" cy="65836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0116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EfficientNet-B4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3134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Visual feature extraction
from face 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148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1488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512-d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43200"/>
            <a:ext cx="1371600" cy="658368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9077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Stream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2743200"/>
            <a:ext cx="2560320" cy="65836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2788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66"/>
                </a:solidFill>
              </a:rPr>
              <a:t>Frequency (FFT+Wavelet)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0906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Detects GAN/diffusion
frequency 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9260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926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256-d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20440"/>
            <a:ext cx="1371600" cy="65836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685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Stream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3520440"/>
            <a:ext cx="2560320" cy="65836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3566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SRM Noise Residual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8679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Splicing &amp; manipulation
noise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703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703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128-d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97680"/>
            <a:ext cx="1371600" cy="658368"/>
          </a:xfrm>
          <a:prstGeom prst="rect">
            <a:avLst/>
          </a:prstGeom>
          <a:solidFill>
            <a:srgbClr val="FF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4622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Stream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4297680"/>
            <a:ext cx="2560320" cy="65836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4343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06A"/>
                </a:solidFill>
              </a:rPr>
              <a:t>Gram Style 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645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Texture consistency
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4805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4805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0E0EF"/>
                </a:solidFill>
              </a:rPr>
              <a:t>128-d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1188720"/>
            <a:ext cx="2743200" cy="393192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0" y="1188720"/>
            <a:ext cx="27432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5000" y="12070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Cross-Attention Fusion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169164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1280-d fused representation
Multi-head attention
across 5 streams
Image Head
→ 512 → 256
Binary Output
(Real / Fake)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2560320"/>
            <a:ext cx="2560320" cy="164592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2606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29260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</a:rPr>
              <a:t>P(Real)   P(Fake)
Threshold: 0.50
Fake Type Classification
(10 categories)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Model 2 &amp; 3: Video &amp; Audio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486400" cy="502920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486400" cy="45720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Model 2 — LipNet Video 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Framework:  TensorFlow / Keras
Input:  Video frames (MP4, AVI, MOV, MKV)
Pipeline:
  1. Extract frames from video
  2. Apply 5-stream image analysis per frame
  3. Temporal Transformer aggregates frame features
  4. Binary classification (Real / Fake)
Output:  Fake probability + manipulation type
Export:  ONNX-ready for production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solidFill>
            <a:srgbClr val="FF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207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Model 3 — Wav2Vec2 Audio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Framework:  PyTorch + HuggingFace Transformers
Base Model:  facebook/wav2vec2-base
Input:  Audio (WAV, MP3, FLAC, M4A, OGG)
          Resampled to 16kHz, 4-second clips
Architecture:
  Wav2Vec2 feature extractor (frozen)
  → Mean pooling (768-d)
  → Classifier: 768→512→256→2
Threshold:  0.35 (tuned for audio under-prediction)
Output:  Fake probability + TTS/VC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Datasets Used for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577840" cy="5120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612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Fake Image Datasets  (383,675 images)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• FaceForensics++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84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Deepfakes, Face2Face, FaceSwap,
NeuralTextures, DeepFakeDetection, FaceShifter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• GAN-Generated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StyleGAN2, GenImage 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7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• Diffusion-Generated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ADM, PNDM, DDIM, LDM variants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• DeepFaceLab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6732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High-quality face swap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• DALL-E / Midjourney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616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AI image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• Stable Diffusion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560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Open-source diffusion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43000"/>
            <a:ext cx="5577840" cy="512064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143000"/>
            <a:ext cx="5577840" cy="45720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612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Real Image Datasets  (681,679 images)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• FFHQ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984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50,000 high-quality Flickr faces
(from processed_faces.zip)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• VGGFace2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78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625,789 real faces, 9,000+ identities
Diverse lighting &amp; angles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2607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• Extra Real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72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5,890 manually curated real photos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204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• Audio — ASVspoof 2019/2021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6732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Anti-spoofing challenge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148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• Audio — WaveFake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616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GAN vocoder fake speech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09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81"/>
                </a:solidFill>
              </a:rPr>
              <a:t>• Audio — MLAAD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9560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  Multi-language audio deepfakes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Training Results &amp; Accuracy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92240" y="1188720"/>
            <a:ext cx="530352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79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261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Stage 1 Warmup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261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Final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5303520" cy="43891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719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19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98.7%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719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98.7%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103120"/>
            <a:ext cx="5303520" cy="438912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2176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Fake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76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94.0%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176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97.2%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560320"/>
            <a:ext cx="5303520" cy="43891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2633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Avg 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633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94.6%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6334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98.0%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17520"/>
            <a:ext cx="5303520" cy="438912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3090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AUROC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90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0.9948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0906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~0.998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474720"/>
            <a:ext cx="5303520" cy="43891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3547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Training Epochs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547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Phase 1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547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Phase 1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931920"/>
            <a:ext cx="5303520" cy="438912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4005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Model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005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506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005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519 MB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389120"/>
            <a:ext cx="5303520" cy="43891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79" y="4462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462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0.50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462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0.50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Confusion Matrix &amp; F1 Score — Final Model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0292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1280160"/>
            <a:ext cx="621792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353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3533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Real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3533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Fake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737360"/>
            <a:ext cx="6217920" cy="43891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10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10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0.9870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810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0.9868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94560"/>
            <a:ext cx="6217920" cy="438912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267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67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0.9870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267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0.9720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651760"/>
            <a:ext cx="6217920" cy="43891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724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24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0.9870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724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0.9793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3108960"/>
            <a:ext cx="6217920" cy="438912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3182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82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3182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5,000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566160"/>
            <a:ext cx="6217920" cy="43891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3639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393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6393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4023360"/>
            <a:ext cx="6217920" cy="438912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40965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Overall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096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97.95%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40965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4480560"/>
            <a:ext cx="6217920" cy="438912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553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Macro F1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53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0.9793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4553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937760"/>
            <a:ext cx="6217920" cy="438912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AUROC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010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D481"/>
                </a:solidFill>
              </a:rPr>
              <a:t>~0.998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5010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Project Completion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Full-Stack Web Application (Frontend + Backend)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280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1325880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0" y="1325880"/>
            <a:ext cx="2286000" cy="22860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58600" y="1280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19072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Image Deepfake Detection Model (98% accuracy)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810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856231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80" y="1856231"/>
            <a:ext cx="2286000" cy="22860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58600" y="18105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100%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49424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4086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Audio Deepfake Detection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340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Complete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386584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2386584"/>
            <a:ext cx="2286000" cy="22860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58600" y="23408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79776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7121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Video Deepfake Detection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712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66"/>
                </a:solidFill>
              </a:rPr>
              <a:t>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916936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2916936"/>
            <a:ext cx="2057400" cy="228600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58600" y="28712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66"/>
                </a:solidFill>
              </a:rPr>
              <a:t>90%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310128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4015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Face Detection Pipeline (multi-face support)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401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Complete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3447288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0" y="3447288"/>
            <a:ext cx="2286000" cy="22860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58600" y="3401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100%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840480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Grad-CAM Heatmap Visualization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Complete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3977640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26880" y="3977640"/>
            <a:ext cx="2286000" cy="22860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5860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100%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370832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4622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User Authentication (JWT)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4462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4507992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26880" y="4507992"/>
            <a:ext cx="2286000" cy="22860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658600" y="4462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901184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99262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Detection History &amp; Database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4992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0" y="5038344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26880" y="5038344"/>
            <a:ext cx="2286000" cy="228600"/>
          </a:xfrm>
          <a:prstGeom prst="rect">
            <a:avLst/>
          </a:prstGeom>
          <a:solidFill>
            <a:srgbClr val="2DD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658600" y="49926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81"/>
                </a:solidFill>
              </a:rPr>
              <a:t>100%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431536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52297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Real-Photo False Positive Reduction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55229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66"/>
                </a:solidFill>
              </a:rPr>
              <a:t>In Progress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26880" y="5568696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26880" y="5568696"/>
            <a:ext cx="1485900" cy="228600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658600" y="55229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66"/>
                </a:solidFill>
              </a:rPr>
              <a:t>65%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961888"/>
            <a:ext cx="11612880" cy="475488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0533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ONNX Export &amp; Deployment Optimization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6053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66"/>
                </a:solidFill>
              </a:rPr>
              <a:t>In Progress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6880" y="6099048"/>
            <a:ext cx="2286000" cy="228600"/>
          </a:xfrm>
          <a:prstGeom prst="rect">
            <a:avLst/>
          </a:prstGeom>
          <a:solidFill>
            <a:srgbClr val="20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26880" y="6099048"/>
            <a:ext cx="914400" cy="228600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658600" y="60533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66"/>
                </a:solidFill>
              </a:rPr>
              <a:t>40%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428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Overall Project Completion:  88%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</a:rPr>
              <a:t>Challenges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Key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5852160" cy="105156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Phase 2 Fine-tuning Collapse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Unfreezing all backbone layers caused NaN losses and model collapse due to CLIP attention overflow in float16. Solution: Phase 1 only training.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70048"/>
            <a:ext cx="5852160" cy="105156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157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Real-Photo False Positives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3580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Some real photos (compressed, beauty-filtered) score 90-100% fake. Requires WhatsApp/phone-style real photos in training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785615"/>
            <a:ext cx="5852160" cy="105156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Training/Inference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51376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Extra fake datasets (DALL-E, Midjourney) trained as full images but inference uses face crops — model doesn't generalize to these types.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901183"/>
            <a:ext cx="5852160" cy="105156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94690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Label Convention Confusion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66944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Model empirically outputs probs[1]=P(fake) despite architecture ambiguity. Fixed in inference.py with debug logging to verify.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D481"/>
                </a:solidFill>
              </a:rPr>
              <a:t>Next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554480"/>
            <a:ext cx="5303520" cy="59436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673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Add real phone/WhatsApp-style photos to training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240280"/>
            <a:ext cx="5303520" cy="59436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359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Complete ONNX export for faster CPU inference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926080"/>
            <a:ext cx="5303520" cy="59436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044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Improve video model accuracy with more training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611880"/>
            <a:ext cx="5303520" cy="59436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Deploy to cloud (AWS / GCP) for production 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297680"/>
            <a:ext cx="5303520" cy="594360"/>
          </a:xfrm>
          <a:prstGeom prst="rect">
            <a:avLst/>
          </a:prstGeom>
          <a:solidFill>
            <a:srgbClr val="1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416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Add batch processing for multiple file uploads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